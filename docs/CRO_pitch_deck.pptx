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451788e4-f02c-5254-fa42-e88f056ee726}">
          <p14:sldIdLst>
            <p14:sldId id="256"/>
            <p14:sldId id="257"/>
          </p14:sldIdLst>
        </p14:section>
        <p14:section name="What the data says" id="{04e28dc8-41bc-151a-341f-fecc3e5cc791}">
          <p14:sldIdLst>
            <p14:sldId id="258"/>
            <p14:sldId id="259"/>
            <p14:sldId id="260"/>
          </p14:sldIdLst>
        </p14:section>
        <p14:section name="The solution" id="{76567ca8-b0b5-8874-3817-1258de4ce4cf}">
          <p14:sldIdLst>
            <p14:sldId id="261"/>
            <p14:sldId id="262"/>
            <p14:sldId id="263"/>
            <p14:sldId id="264"/>
          </p14:sldIdLst>
        </p14:section>
        <p14:section name="Governance and ask" id="{ba9f986f-adff-8324-566d-f128fa95cfd3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accounts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Personal Loan</c:v>
                  </c:pt>
                  <c:pt idx="1">
                    <c:v>Credit Card</c:v>
                  </c:pt>
                  <c:pt idx="2">
                    <c:v>Auto Loan</c:v>
                  </c:pt>
                  <c:pt idx="3">
                    <c:v>Business Loan</c:v>
                  </c:pt>
                  <c:pt idx="4">
                    <c:v>Mortgage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35.5</c:v>
                </c:pt>
                <c:pt idx="1">
                  <c:v>25.3</c:v>
                </c:pt>
                <c:pt idx="2">
                  <c:v>19.3</c:v>
                </c:pt>
                <c:pt idx="3">
                  <c:v>10.1</c:v>
                </c:pt>
                <c:pt idx="4">
                  <c:v>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exposure</c:v>
                </c:pt>
              </c:strCache>
            </c:strRef>
          </c:tx>
          <c:spPr>
            <a:solidFill>
              <a:srgbClr val="0172B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Personal Loan</c:v>
                  </c:pt>
                  <c:pt idx="1">
                    <c:v>Credit Card</c:v>
                  </c:pt>
                  <c:pt idx="2">
                    <c:v>Auto Loan</c:v>
                  </c:pt>
                  <c:pt idx="3">
                    <c:v>Business Loan</c:v>
                  </c:pt>
                  <c:pt idx="4">
                    <c:v>Mortgage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13.1</c:v>
                </c:pt>
                <c:pt idx="1">
                  <c:v>5</c:v>
                </c:pt>
                <c:pt idx="2">
                  <c:v>13.1</c:v>
                </c:pt>
                <c:pt idx="3">
                  <c:v>16.5</c:v>
                </c:pt>
                <c:pt idx="4">
                  <c:v>52.3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Share of defaulted exposure</c:v>
                </c:pt>
              </c:strCache>
            </c:strRef>
          </c:tx>
          <c:spPr>
            <a:solidFill>
              <a:srgbClr val="DC354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Personal Loan</c:v>
                  </c:pt>
                  <c:pt idx="1">
                    <c:v>Credit Card</c:v>
                  </c:pt>
                  <c:pt idx="2">
                    <c:v>Auto Loan</c:v>
                  </c:pt>
                  <c:pt idx="3">
                    <c:v>Business Loan</c:v>
                  </c:pt>
                  <c:pt idx="4">
                    <c:v>Mortgage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9.5</c:v>
                </c:pt>
                <c:pt idx="1">
                  <c:v>3.8</c:v>
                </c:pt>
                <c:pt idx="2">
                  <c:v>8.7</c:v>
                </c:pt>
                <c:pt idx="3">
                  <c:v>12.9</c:v>
                </c:pt>
                <c:pt idx="4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0172B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&lt;40k</c:v>
                  </c:pt>
                  <c:pt idx="1">
                    <c:v>40-60k</c:v>
                  </c:pt>
                  <c:pt idx="2">
                    <c:v>60-80k</c:v>
                  </c:pt>
                  <c:pt idx="3">
                    <c:v>80-100k</c:v>
                  </c:pt>
                  <c:pt idx="4">
                    <c:v>100k+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32.3</c:v>
                </c:pt>
                <c:pt idx="1">
                  <c:v>22.4</c:v>
                </c:pt>
                <c:pt idx="2">
                  <c:v>16.6</c:v>
                </c:pt>
                <c:pt idx="3">
                  <c:v>13.2</c:v>
                </c:pt>
                <c:pt idx="4">
                  <c:v>9.5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interest rate</c:v>
                </c:pt>
              </c:strCache>
            </c:strRef>
          </c:tx>
          <c:spPr>
            <a:solidFill>
              <a:srgbClr val="2BA882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&lt;40k</c:v>
                  </c:pt>
                  <c:pt idx="1">
                    <c:v>40-60k</c:v>
                  </c:pt>
                  <c:pt idx="2">
                    <c:v>60-80k</c:v>
                  </c:pt>
                  <c:pt idx="3">
                    <c:v>80-100k</c:v>
                  </c:pt>
                  <c:pt idx="4">
                    <c:v>100k+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11.81</c:v>
                </c:pt>
                <c:pt idx="1">
                  <c:v>11.84</c:v>
                </c:pt>
                <c:pt idx="2">
                  <c:v>11.86</c:v>
                </c:pt>
                <c:pt idx="3">
                  <c:v>12</c:v>
                </c:pt>
                <c:pt idx="4">
                  <c:v>11.75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0172B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None</c:v>
                  </c:pt>
                  <c:pt idx="1">
                    <c:v>1</c:v>
                  </c:pt>
                  <c:pt idx="2">
                    <c:v>2</c:v>
                  </c:pt>
                  <c:pt idx="3">
                    <c:v>3+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12.9</c:v>
                </c:pt>
                <c:pt idx="1">
                  <c:v>18.1</c:v>
                </c:pt>
                <c:pt idx="2">
                  <c:v>25.3</c:v>
                </c:pt>
                <c:pt idx="3">
                  <c:v>34.1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Default rate</c:v>
                </c:pt>
              </c:strCache>
            </c:strRef>
          </c:tx>
          <c:spPr>
            <a:solidFill>
              <a:srgbClr val="0172B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&lt;0.25x</c:v>
                  </c:pt>
                  <c:pt idx="1">
                    <c:v>0.25-0.5x</c:v>
                  </c:pt>
                  <c:pt idx="2">
                    <c:v>0.5-1x</c:v>
                  </c:pt>
                  <c:pt idx="3">
                    <c:v>1-2x</c:v>
                  </c:pt>
                  <c:pt idx="4">
                    <c:v>&gt;2x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13.6</c:v>
                </c:pt>
                <c:pt idx="1">
                  <c:v>15.2</c:v>
                </c:pt>
                <c:pt idx="2">
                  <c:v>18.7</c:v>
                </c:pt>
                <c:pt idx="3">
                  <c:v>20.2</c:v>
                </c:pt>
                <c:pt idx="4">
                  <c:v>28.1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Logistic regression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Application</c:v>
                  </c:pt>
                  <c:pt idx="1">
                    <c:v>+ Bureau</c:v>
                  </c:pt>
                  <c:pt idx="2">
                    <c:v>+ Repayment</c:v>
                  </c:pt>
                  <c:pt idx="3">
                    <c:v>+ Cross-account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0.655</c:v>
                </c:pt>
                <c:pt idx="1">
                  <c:v>0.663</c:v>
                </c:pt>
                <c:pt idx="2">
                  <c:v>0.681</c:v>
                </c:pt>
                <c:pt idx="3">
                  <c:v>0.689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0172B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7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Application</c:v>
                  </c:pt>
                  <c:pt idx="1">
                    <c:v>+ Bureau</c:v>
                  </c:pt>
                  <c:pt idx="2">
                    <c:v>+ Repayment</c:v>
                  </c:pt>
                  <c:pt idx="3">
                    <c:v>+ Cross-account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0.649</c:v>
                </c:pt>
                <c:pt idx="1">
                  <c:v>0.657</c:v>
                </c:pt>
                <c:pt idx="2">
                  <c:v>0.678</c:v>
                </c:pt>
                <c:pt idx="3">
                  <c:v>0.684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27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2"/>
          <c:min val="0.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75569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Portfolio Monitor  |  CRO briefing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image" Target="../media/image-5-1.png"/><Relationship Id="rId4" Type="http://schemas.openxmlformats.org/officeDocument/2006/relationships/image" Target="../media/image-5-2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9C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BRIEFING  |  OCTOBER 2026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Seeing portfolio risk earlier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Portfolio Monitor: score, explain and watch every loan account, with analysts in control.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97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prototype on 14,685 loan accounts</a:t>
            </a:r>
            <a:endParaRPr lang="en-US" sz="1400" dirty="0"/>
          </a:p>
        </p:txBody>
      </p:sp>
      <p:sp>
        <p:nvSpPr>
          <p:cNvPr id="6" name="stat-card"/>
          <p:cNvSpPr/>
          <p:nvPr/>
        </p:nvSpPr>
        <p:spPr>
          <a:xfrm>
            <a:off x="7955280" y="1097280"/>
            <a:ext cx="3566160" cy="1463040"/>
          </a:xfrm>
          <a:prstGeom prst="roundRect">
            <a:avLst>
              <a:gd name="adj" fmla="val 8750"/>
            </a:avLst>
          </a:prstGeom>
          <a:solidFill>
            <a:srgbClr val="34495E"/>
          </a:solidFill>
          <a:ln w="12700">
            <a:solidFill>
              <a:srgbClr val="47617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0" y="126187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14,685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19933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accounts, 10,000 customers</a:t>
            </a:r>
            <a:endParaRPr lang="en-US" sz="1400" dirty="0"/>
          </a:p>
        </p:txBody>
      </p:sp>
      <p:sp>
        <p:nvSpPr>
          <p:cNvPr id="9" name="stat-card"/>
          <p:cNvSpPr/>
          <p:nvPr/>
        </p:nvSpPr>
        <p:spPr>
          <a:xfrm>
            <a:off x="7955280" y="2788920"/>
            <a:ext cx="3566160" cy="1463040"/>
          </a:xfrm>
          <a:prstGeom prst="roundRect">
            <a:avLst>
              <a:gd name="adj" fmla="val 8750"/>
            </a:avLst>
          </a:prstGeom>
          <a:solidFill>
            <a:srgbClr val="34495E"/>
          </a:solidFill>
          <a:ln w="12700">
            <a:solidFill>
              <a:srgbClr val="47617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295351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$601M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6850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exposure</a:t>
            </a:r>
            <a:endParaRPr lang="en-US" sz="1400" dirty="0"/>
          </a:p>
        </p:txBody>
      </p:sp>
      <p:sp>
        <p:nvSpPr>
          <p:cNvPr id="12" name="stat-card"/>
          <p:cNvSpPr/>
          <p:nvPr/>
        </p:nvSpPr>
        <p:spPr>
          <a:xfrm>
            <a:off x="7955280" y="4480560"/>
            <a:ext cx="3566160" cy="1463040"/>
          </a:xfrm>
          <a:prstGeom prst="roundRect">
            <a:avLst>
              <a:gd name="adj" fmla="val 8750"/>
            </a:avLst>
          </a:prstGeom>
          <a:solidFill>
            <a:srgbClr val="34495E"/>
          </a:solidFill>
          <a:ln w="12700">
            <a:solidFill>
              <a:srgbClr val="47617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464515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16.1%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53766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(21.1% by exposure)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VERSION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risk earlier and keep humans in control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70408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77240" y="2039112"/>
            <a:ext cx="685800" cy="685800"/>
          </a:xfrm>
          <a:prstGeom prst="ellipse">
            <a:avLst/>
          </a:prstGeom>
          <a:solidFill>
            <a:srgbClr val="0172B6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210562"/>
            <a:ext cx="342900" cy="3429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84708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is concentrated and hidden.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737360" y="22402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Mortgages are 10% of accounts but 52% of exposure and 65% of defaulted exposure. Customers under $60k income are 22% of exposure but 34% of defaulted exposure.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548640" y="3246120"/>
            <a:ext cx="70408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777240" y="3593592"/>
            <a:ext cx="685800" cy="685800"/>
          </a:xfrm>
          <a:prstGeom prst="ellipse">
            <a:avLst/>
          </a:prstGeom>
          <a:solidFill>
            <a:srgbClr val="2BA882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690" y="3765042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737360" y="34015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gives early warning.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1737360" y="37947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payments in the first 12 months lift default from 12.9% to 34.1%. The score is moderate (AUC 0.684) but well calibrated, and explains itself per account.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548640" y="4800600"/>
            <a:ext cx="704088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777240" y="5148072"/>
            <a:ext cx="685800" cy="68580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5319522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737360" y="49560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proposes, analysts decide.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1737360" y="53492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watch ranks unusual accounts for review. Every decision is logged, and nothing acts automatically.</a:t>
            </a:r>
            <a:endParaRPr lang="en-US" sz="1400" dirty="0"/>
          </a:p>
        </p:txBody>
      </p:sp>
      <p:sp>
        <p:nvSpPr>
          <p:cNvPr id="19" name="ask-card"/>
          <p:cNvSpPr/>
          <p:nvPr/>
        </p:nvSpPr>
        <p:spPr>
          <a:xfrm>
            <a:off x="7955280" y="1691640"/>
            <a:ext cx="3685032" cy="4480560"/>
          </a:xfrm>
          <a:prstGeom prst="roundRect">
            <a:avLst>
              <a:gd name="adj" fmla="val 3474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20" name="Text 15"/>
          <p:cNvSpPr txBox="1"/>
          <p:nvPr/>
        </p:nvSpPr>
        <p:spPr>
          <a:xfrm>
            <a:off x="827532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275320" y="23317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a 90-day pilot on real bank data</a:t>
            </a:r>
            <a:endParaRPr lang="en-US" sz="2600" dirty="0"/>
          </a:p>
        </p:txBody>
      </p:sp>
      <p:sp>
        <p:nvSpPr>
          <p:cNvPr id="22" name="Text 17"/>
          <p:cNvSpPr txBox="1"/>
          <p:nvPr/>
        </p:nvSpPr>
        <p:spPr>
          <a:xfrm>
            <a:off x="8275320" y="402336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and the default definition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model validation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mode with a small analyst team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RISK SITS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Mortgages: 10% of accounts, 65% of defaulted exposure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040880" cy="4617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ard"/>
          <p:cNvSpPr/>
          <p:nvPr/>
        </p:nvSpPr>
        <p:spPr>
          <a:xfrm>
            <a:off x="7955280" y="1691640"/>
            <a:ext cx="368503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183880" y="18288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C3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9601200" y="18745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exposure sits in 1,432 mortgages, which default at 24.7% vs 16.1% overall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7955280" y="3291840"/>
            <a:ext cx="3685032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183880" y="342900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1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601200" y="347472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whole book is South mortgages ($84M) at a 27.3% default rate</a:t>
            </a:r>
            <a:endParaRPr lang="en-US" sz="1300" dirty="0"/>
          </a:p>
        </p:txBody>
      </p:sp>
      <p:sp>
        <p:nvSpPr>
          <p:cNvPr id="11" name="so-what"/>
          <p:cNvSpPr/>
          <p:nvPr/>
        </p:nvSpPr>
        <p:spPr>
          <a:xfrm>
            <a:off x="7955280" y="4892040"/>
            <a:ext cx="3685032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83880" y="5001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5303520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limits and monitoring by product first, then region by product. Region alone is flat (15% to 17%).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DEFAULTS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drives default, but pricing does not respond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rate by income band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5727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interest rate by income band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2024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309360" y="1920240"/>
          <a:ext cx="533095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ard"/>
          <p:cNvSpPr/>
          <p:nvPr/>
        </p:nvSpPr>
        <p:spPr>
          <a:xfrm>
            <a:off x="548640" y="4892040"/>
            <a:ext cx="35661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749808" y="4983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3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 vs 34%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749808" y="5577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under $60k: share of exposure vs share of defaulted exposure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4297680" y="4892040"/>
            <a:ext cx="356616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12" name="Text 8"/>
          <p:cNvSpPr txBox="1"/>
          <p:nvPr/>
        </p:nvSpPr>
        <p:spPr>
          <a:xfrm>
            <a:off x="4498848" y="4983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31% vs 21%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4498848" y="557784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Unemployed vs salaried default at the same income (40-60k band)</a:t>
            </a:r>
            <a:endParaRPr lang="en-US" sz="1300" dirty="0"/>
          </a:p>
        </p:txBody>
      </p:sp>
      <p:sp>
        <p:nvSpPr>
          <p:cNvPr id="14" name="so-what"/>
          <p:cNvSpPr/>
          <p:nvPr/>
        </p:nvSpPr>
        <p:spPr>
          <a:xfrm>
            <a:off x="8046720" y="4892040"/>
            <a:ext cx="3593592" cy="1325880"/>
          </a:xfrm>
          <a:prstGeom prst="roundRect">
            <a:avLst>
              <a:gd name="adj" fmla="val 8276"/>
            </a:avLst>
          </a:prstGeom>
          <a:solidFill>
            <a:schemeClr val="accent1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8247888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8247888" y="5285232"/>
            <a:ext cx="3246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stay near 12% while default spans 9.5% to 32%. Low-income borrowers are not priced for risk.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SIGNALS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 is the strongest early-warning signal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rate by missed payments in months 1-12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309360" y="15727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rate by loan amount / annual income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920240"/>
          <a:ext cx="5394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309360" y="1920240"/>
          <a:ext cx="5330952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card"/>
          <p:cNvSpPr/>
          <p:nvPr/>
        </p:nvSpPr>
        <p:spPr>
          <a:xfrm>
            <a:off x="548640" y="489204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777240" y="5230368"/>
            <a:ext cx="640080" cy="640080"/>
          </a:xfrm>
          <a:prstGeom prst="ellipse">
            <a:avLst/>
          </a:prstGeom>
          <a:solidFill>
            <a:srgbClr val="2BA882"/>
          </a:solidFill>
          <a:ln/>
        </p:spPr>
      </p:sp>
      <p:pic>
        <p:nvPicPr>
          <p:cNvPr id="10" name="Image 0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5390388"/>
            <a:ext cx="320040" cy="32004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645920" y="5029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A8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33% vs 14%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1645920" y="5532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for customers with 3+ bureau lines at 30+ days past due vs none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217920" y="4892040"/>
            <a:ext cx="5440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6446520" y="5230368"/>
            <a:ext cx="640080" cy="640080"/>
          </a:xfrm>
          <a:prstGeom prst="ellipse">
            <a:avLst/>
          </a:prstGeom>
          <a:solidFill>
            <a:srgbClr val="0172B6"/>
          </a:solidFill>
          <a:ln/>
        </p:spPr>
      </p:sp>
      <p:pic>
        <p:nvPicPr>
          <p:cNvPr id="15" name="Image 1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6540" y="5390388"/>
            <a:ext cx="320040" cy="32004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315200" y="50292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72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Aggregates beat raw fields</a:t>
            </a:r>
            <a:endParaRPr lang="en-US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7315200" y="55321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are built from bureau and 12-month repayment history, plus the customer's other loans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one dashboard, governed end to end</a:t>
            </a:r>
            <a:endParaRPr lang="en-US" sz="3000" dirty="0"/>
          </a:p>
        </p:txBody>
      </p:sp>
      <p:pic>
        <p:nvPicPr>
          <p:cNvPr id="4" name="Image 0" descr="End-to-end architecture 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187480"/>
            <a:ext cx="8001000" cy="339744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8823960" y="1691640"/>
            <a:ext cx="281635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9006840" y="1874520"/>
            <a:ext cx="502920" cy="502920"/>
          </a:xfrm>
          <a:prstGeom prst="ellipse">
            <a:avLst/>
          </a:prstGeom>
          <a:solidFill>
            <a:srgbClr val="0172B6"/>
          </a:solidFill>
          <a:ln/>
        </p:spPr>
      </p:sp>
      <p:pic>
        <p:nvPicPr>
          <p:cNvPr id="7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2570" y="2000250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601200" y="185623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artefact per stage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9006840" y="2468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produces a file the next stage consumes.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8823960" y="3200400"/>
            <a:ext cx="281635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9006840" y="338328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2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2570" y="350901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9601200" y="33649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lives in the dashboard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9006840" y="39776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watch is part of the product, not a side tool.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8823960" y="4709160"/>
            <a:ext cx="281635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16" name="icon-circle"/>
          <p:cNvSpPr/>
          <p:nvPr/>
        </p:nvSpPr>
        <p:spPr>
          <a:xfrm>
            <a:off x="9006840" y="4892040"/>
            <a:ext cx="502920" cy="50292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7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570" y="501777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601200" y="48737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spans every stage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9006840" y="54864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Checks, assumptions and audit trail travel with the data.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moderate score that is honest about itself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2834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8013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15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</a:t>
            </a:r>
            <a:endParaRPr lang="en-US" sz="1200" dirty="0"/>
          </a:p>
        </p:txBody>
      </p:sp>
      <p:sp>
        <p:nvSpPr>
          <p:cNvPr id="8" name="card"/>
          <p:cNvSpPr/>
          <p:nvPr/>
        </p:nvSpPr>
        <p:spPr>
          <a:xfrm>
            <a:off x="548640" y="3200400"/>
            <a:ext cx="2834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3101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661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0.37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2245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x AUC - 1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548640" y="4709160"/>
            <a:ext cx="283464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8188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50749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0.28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5733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separation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70332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AUC by feature group (0.50 = random)</a:t>
            </a:r>
            <a:endParaRPr lang="en-US" sz="15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703320" y="1920240"/>
          <a:ext cx="457200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3703320" y="51206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(0.684) and logistic regression (0.689) are statistically tied. XGBoost is used for exact SHAP reasons and missing-data handling; logistic regression stays as the benchmark.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59536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by risk band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95360" y="1965960"/>
          <a:ext cx="304495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58368"/>
                <a:gridCol w="822960"/>
                <a:gridCol w="740664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accts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CA3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62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026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card"/>
          <p:cNvSpPr/>
          <p:nvPr/>
        </p:nvSpPr>
        <p:spPr>
          <a:xfrm>
            <a:off x="8595360" y="4069080"/>
            <a:ext cx="3044952" cy="2148840"/>
          </a:xfrm>
          <a:prstGeom prst="roundRect">
            <a:avLst>
              <a:gd name="adj" fmla="val 5106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8796528" y="4187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scoring points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8796528" y="4572000"/>
            <a:ext cx="2697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application: application + bureau features (AUC 0.66)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12 months on book: full model (AUC 0.68)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analyst sees: segments, scores, reasons</a:t>
            </a:r>
            <a:endParaRPr lang="en-US" sz="3000" dirty="0"/>
          </a:p>
        </p:txBody>
      </p:sp>
      <p:sp>
        <p:nvSpPr>
          <p:cNvPr id="4" name="shot-frame"/>
          <p:cNvSpPr/>
          <p:nvPr/>
        </p:nvSpPr>
        <p:spPr>
          <a:xfrm>
            <a:off x="512064" y="1609344"/>
            <a:ext cx="555955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pic>
        <p:nvPicPr>
          <p:cNvPr id="5" name="Image 0" descr="Portfolio view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5486400" cy="3657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view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607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bands, exposure, filters, drill-down, cross-cuts and vintage trends.</a:t>
            </a:r>
            <a:endParaRPr lang="en-US" sz="1300" dirty="0"/>
          </a:p>
        </p:txBody>
      </p:sp>
      <p:sp>
        <p:nvSpPr>
          <p:cNvPr id="8" name="shot-frame"/>
          <p:cNvSpPr/>
          <p:nvPr/>
        </p:nvSpPr>
        <p:spPr>
          <a:xfrm>
            <a:off x="6117336" y="1609344"/>
            <a:ext cx="5559552" cy="3730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pic>
        <p:nvPicPr>
          <p:cNvPr id="9" name="Image 1" descr="Account view screensho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912" y="1645920"/>
            <a:ext cx="5486400" cy="3657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153912" y="5440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view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153912" y="57607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Score, band, anomaly alert and SHAP drivers; repayment and bureau detail below.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FEATURE: ANOMALY WATCH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proposes, analysts decide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566928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685800" y="1746504"/>
            <a:ext cx="493776" cy="49377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869948"/>
            <a:ext cx="246888" cy="24688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700784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377440" y="1700784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Own-history DPD spike, peer-segment outlier, bureau-vs-repayment divergence. Unsupervised.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548640" y="2432304"/>
            <a:ext cx="566928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685800" y="2532888"/>
            <a:ext cx="493776" cy="49377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" y="2656332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71600" y="2487168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377440" y="2487168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x exposure puts the highest-impact alerts first; live sliders set the volume.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548640" y="3218688"/>
            <a:ext cx="5669280" cy="694944"/>
          </a:xfrm>
          <a:prstGeom prst="roundRect">
            <a:avLst>
              <a:gd name="adj" fmla="val 15789"/>
            </a:avLst>
          </a:prstGeom>
          <a:solidFill>
            <a:srgbClr val="FEF3C7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685800" y="3319272"/>
            <a:ext cx="493776" cy="49377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3442716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71600" y="3273552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2377440" y="3273552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confirms, dismisses, asks for info or escalates. Nothing acts automatically.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548640" y="4005072"/>
            <a:ext cx="5669280" cy="694944"/>
          </a:xfrm>
          <a:prstGeom prst="roundRect">
            <a:avLst>
              <a:gd name="adj" fmla="val 157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20" name="icon-circle"/>
          <p:cNvSpPr/>
          <p:nvPr/>
        </p:nvSpPr>
        <p:spPr>
          <a:xfrm>
            <a:off x="685800" y="4105656"/>
            <a:ext cx="493776" cy="493776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21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" y="4229100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71600" y="4059936"/>
            <a:ext cx="1005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2377440" y="4059936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logged. A detector dismissed over 70% of the time gets retuned.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548640" y="484632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640080" y="4892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6.4%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640080" y="5349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accounts alerted</a:t>
            </a:r>
            <a:endParaRPr lang="en-US" sz="1100" dirty="0"/>
          </a:p>
        </p:txBody>
      </p:sp>
      <p:sp>
        <p:nvSpPr>
          <p:cNvPr id="27" name="card"/>
          <p:cNvSpPr/>
          <p:nvPr/>
        </p:nvSpPr>
        <p:spPr>
          <a:xfrm>
            <a:off x="2468880" y="484632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2560320" y="4892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39% vs 15%</a:t>
            </a:r>
            <a:endParaRPr lang="en-US" sz="1900" dirty="0"/>
          </a:p>
        </p:txBody>
      </p:sp>
      <p:sp>
        <p:nvSpPr>
          <p:cNvPr id="29" name="Text 23"/>
          <p:cNvSpPr txBox="1"/>
          <p:nvPr/>
        </p:nvSpPr>
        <p:spPr>
          <a:xfrm>
            <a:off x="2560320" y="5349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peer outliers vs rest</a:t>
            </a:r>
            <a:endParaRPr lang="en-US" sz="1100" dirty="0"/>
          </a:p>
        </p:txBody>
      </p:sp>
      <p:sp>
        <p:nvSpPr>
          <p:cNvPr id="30" name="card"/>
          <p:cNvSpPr/>
          <p:nvPr/>
        </p:nvSpPr>
        <p:spPr>
          <a:xfrm>
            <a:off x="4389120" y="4846320"/>
            <a:ext cx="182880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4480560" y="4892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1900" dirty="0"/>
          </a:p>
        </p:txBody>
      </p:sp>
      <p:sp>
        <p:nvSpPr>
          <p:cNvPr id="32" name="Text 26"/>
          <p:cNvSpPr txBox="1"/>
          <p:nvPr/>
        </p:nvSpPr>
        <p:spPr>
          <a:xfrm>
            <a:off x="4480560" y="53492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alerts rated Low/Medium by PD</a:t>
            </a:r>
            <a:endParaRPr lang="en-US" sz="110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58521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bounced debit after 11 clean months; the analyst dismisses it.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negative: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 with no warning in the data.</a:t>
            </a:r>
            <a:endParaRPr lang="en-US" sz="1200" dirty="0"/>
          </a:p>
        </p:txBody>
      </p:sp>
      <p:sp>
        <p:nvSpPr>
          <p:cNvPr id="34" name="shot-frame"/>
          <p:cNvSpPr/>
          <p:nvPr/>
        </p:nvSpPr>
        <p:spPr>
          <a:xfrm>
            <a:off x="6483096" y="1609344"/>
            <a:ext cx="5193792" cy="388947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pic>
        <p:nvPicPr>
          <p:cNvPr id="35" name="Image 4" descr="Anomaly watch screensh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1645920"/>
            <a:ext cx="5120640" cy="381632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COMPLIANCE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model-risk review from day one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611880" cy="2121408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5" name="icon-circle"/>
          <p:cNvSpPr/>
          <p:nvPr/>
        </p:nvSpPr>
        <p:spPr>
          <a:xfrm>
            <a:off x="749808" y="1892808"/>
            <a:ext cx="548640" cy="548640"/>
          </a:xfrm>
          <a:prstGeom prst="ellipse">
            <a:avLst/>
          </a:prstGeom>
          <a:solidFill>
            <a:srgbClr val="0172B6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2029968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8928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Leakage-proof by design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6060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(post-delinquency) are excluded. Customer-grouped splits and out-of-fold scores: no account is scored by a model that saw it.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297680" y="1691640"/>
            <a:ext cx="3611880" cy="2121408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498848" y="1892808"/>
            <a:ext cx="548640" cy="548640"/>
          </a:xfrm>
          <a:prstGeom prst="ellipse">
            <a:avLst/>
          </a:prstGeom>
          <a:solidFill>
            <a:srgbClr val="2BA882"/>
          </a:solidFill>
          <a:ln/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8" y="202996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166360" y="18928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Protected attributes excluded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498848" y="26060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and marital status are not inputs and are fairness-tested. Gender approval impact ratio: 0.98.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46720" y="1691640"/>
            <a:ext cx="3611880" cy="2121408"/>
          </a:xfrm>
          <a:prstGeom prst="roundRect">
            <a:avLst>
              <a:gd name="adj" fmla="val 5172"/>
            </a:avLst>
          </a:prstGeom>
          <a:solidFill>
            <a:srgbClr val="FDECEC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15" name="icon-circle"/>
          <p:cNvSpPr/>
          <p:nvPr/>
        </p:nvSpPr>
        <p:spPr>
          <a:xfrm>
            <a:off x="8247888" y="1892808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048" y="202996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915400" y="18928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 flagged for compliance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47888" y="26060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an input. Approval impact ratio for under-30s is 0.66 under a decline-the-riskiest-20% policy; needs a compliance ruling.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3977640"/>
            <a:ext cx="3611880" cy="2121408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20" name="icon-circle"/>
          <p:cNvSpPr/>
          <p:nvPr/>
        </p:nvSpPr>
        <p:spPr>
          <a:xfrm>
            <a:off x="749808" y="4178808"/>
            <a:ext cx="548640" cy="548640"/>
          </a:xfrm>
          <a:prstGeom prst="ellipse">
            <a:avLst/>
          </a:prstGeom>
          <a:solidFill>
            <a:srgbClr val="0172B6"/>
          </a:solidFill>
          <a:ln/>
        </p:spPr>
      </p:sp>
      <p:pic>
        <p:nvPicPr>
          <p:cNvPr id="21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431596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1788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per account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49808" y="48920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SHAP reasons for every score; a logistic-regression benchmark is kept alongside.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4297680" y="3977640"/>
            <a:ext cx="3611880" cy="2121408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25" name="icon-circle"/>
          <p:cNvSpPr/>
          <p:nvPr/>
        </p:nvSpPr>
        <p:spPr>
          <a:xfrm>
            <a:off x="4498848" y="4178808"/>
            <a:ext cx="548640" cy="548640"/>
          </a:xfrm>
          <a:prstGeom prst="ellipse">
            <a:avLst/>
          </a:prstGeom>
          <a:solidFill>
            <a:srgbClr val="2BA882"/>
          </a:solidFill>
          <a:ln/>
        </p:spPr>
      </p:sp>
      <p:pic>
        <p:nvPicPr>
          <p:cNvPr id="26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008" y="431596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166360" y="41788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Monitored after launch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4498848" y="48920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score PSI, monthly feature CSI, vintage AUC and KS. Retrain on PSI over 0.25 or an AUC drop over 0.03; champion / challenger.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8046720" y="3977640"/>
            <a:ext cx="3611880" cy="2121408"/>
          </a:xfrm>
          <a:prstGeom prst="roundRect">
            <a:avLst>
              <a:gd name="adj" fmla="val 517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30" name="icon-circle"/>
          <p:cNvSpPr/>
          <p:nvPr/>
        </p:nvSpPr>
        <p:spPr>
          <a:xfrm>
            <a:off x="8247888" y="4178808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1" name="Image 5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5048" y="431596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915400" y="41788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 the loop, audited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247888" y="489204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never act. Every analyst decision is logged with the thresholds in force.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takes to ship, and what we don't yet know</a:t>
            </a:r>
            <a:endParaRPr lang="en-US" sz="3000" dirty="0"/>
          </a:p>
        </p:txBody>
      </p:sp>
      <p:sp>
        <p:nvSpPr>
          <p:cNvPr id="4" name="card"/>
          <p:cNvSpPr/>
          <p:nvPr/>
        </p:nvSpPr>
        <p:spPr>
          <a:xfrm>
            <a:off x="548640" y="1691640"/>
            <a:ext cx="3474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5" name="num-circle"/>
          <p:cNvSpPr/>
          <p:nvPr/>
        </p:nvSpPr>
        <p:spPr>
          <a:xfrm>
            <a:off x="749808" y="1892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468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definition and dated outcomes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160520" y="1691640"/>
            <a:ext cx="3474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9" name="num-circle"/>
          <p:cNvSpPr/>
          <p:nvPr/>
        </p:nvSpPr>
        <p:spPr>
          <a:xfrm>
            <a:off x="4361688" y="18928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61688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361688" y="24688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bureau pulls at application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548640" y="3200400"/>
            <a:ext cx="3474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13" name="num-circle"/>
          <p:cNvSpPr/>
          <p:nvPr/>
        </p:nvSpPr>
        <p:spPr>
          <a:xfrm>
            <a:off x="749808" y="34015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monthly repayments and balances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160520" y="3200400"/>
            <a:ext cx="3474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17" name="num-circle"/>
          <p:cNvSpPr/>
          <p:nvPr/>
        </p:nvSpPr>
        <p:spPr>
          <a:xfrm>
            <a:off x="4361688" y="340156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61688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361688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data for loss given default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548640" y="4709160"/>
            <a:ext cx="3474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21" name="num-circle"/>
          <p:cNvSpPr/>
          <p:nvPr/>
        </p:nvSpPr>
        <p:spPr>
          <a:xfrm>
            <a:off x="749808" y="4910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49808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5486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SSO, role-based access and a case-management API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4160520" y="4709160"/>
            <a:ext cx="3474720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25" name="num-circle"/>
          <p:cNvSpPr/>
          <p:nvPr/>
        </p:nvSpPr>
        <p:spPr>
          <a:xfrm>
            <a:off x="4361688" y="4910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361688" y="4910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361688" y="5486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ruling on age and adverse-action reasons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7863840" y="1691640"/>
            <a:ext cx="3776472" cy="4389120"/>
          </a:xfrm>
          <a:prstGeom prst="roundRect">
            <a:avLst>
              <a:gd name="adj" fmla="val 2906"/>
            </a:avLst>
          </a:prstGeom>
          <a:solidFill>
            <a:srgbClr val="FDECEC"/>
          </a:solidFill>
          <a:ln/>
          <a:effectLst>
            <a:outerShdw sx="100000" sy="100000" kx="0" ky="0" algn="bl" rotWithShape="0" blurRad="101600" dist="25400" dir="5400000">
              <a:srgbClr val="1B2733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09244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don't yet know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242316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is moderate (AUC 0.684) on noisy synthetic data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definition is inferred, not documented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recovery data, so no loss-given-default or expected-loss view</a:t>
            </a:r>
            <a:endParaRPr lang="en-US" sz="16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37 assumptions are logged, each with what the bank must provide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9C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90-day pilot on real data</a:t>
            </a:r>
            <a:endParaRPr lang="en-US" sz="4400" dirty="0"/>
          </a:p>
        </p:txBody>
      </p:sp>
      <p:sp>
        <p:nvSpPr>
          <p:cNvPr id="4" name="phase-card"/>
          <p:cNvSpPr/>
          <p:nvPr/>
        </p:nvSpPr>
        <p:spPr>
          <a:xfrm>
            <a:off x="731520" y="2286000"/>
            <a:ext cx="3429000" cy="2743200"/>
          </a:xfrm>
          <a:prstGeom prst="roundRect">
            <a:avLst>
              <a:gd name="adj" fmla="val 4667"/>
            </a:avLst>
          </a:prstGeom>
          <a:solidFill>
            <a:srgbClr val="34495E"/>
          </a:solidFill>
          <a:ln w="12700">
            <a:solidFill>
              <a:srgbClr val="47617D"/>
            </a:solidFill>
            <a:prstDash val="solid"/>
          </a:ln>
        </p:spPr>
      </p:sp>
      <p:sp>
        <p:nvSpPr>
          <p:cNvPr id="5" name="icon-circle"/>
          <p:cNvSpPr/>
          <p:nvPr/>
        </p:nvSpPr>
        <p:spPr>
          <a:xfrm>
            <a:off x="960120" y="2514600"/>
            <a:ext cx="566928" cy="566928"/>
          </a:xfrm>
          <a:prstGeom prst="ellipse">
            <a:avLst/>
          </a:prstGeom>
          <a:solidFill>
            <a:srgbClr val="0172B6"/>
          </a:solidFill>
          <a:ln/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1852" y="26563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0-30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2761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the data right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87552" y="34747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access and feeds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the default definition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bureau pull</a:t>
            </a:r>
            <a:endParaRPr lang="en-US" sz="1400" dirty="0"/>
          </a:p>
        </p:txBody>
      </p:sp>
      <p:sp>
        <p:nvSpPr>
          <p:cNvPr id="10" name="phase-card"/>
          <p:cNvSpPr/>
          <p:nvPr/>
        </p:nvSpPr>
        <p:spPr>
          <a:xfrm>
            <a:off x="4389120" y="2286000"/>
            <a:ext cx="3429000" cy="2743200"/>
          </a:xfrm>
          <a:prstGeom prst="roundRect">
            <a:avLst>
              <a:gd name="adj" fmla="val 4667"/>
            </a:avLst>
          </a:prstGeom>
          <a:solidFill>
            <a:srgbClr val="34495E"/>
          </a:solidFill>
          <a:ln w="12700">
            <a:solidFill>
              <a:srgbClr val="47617D"/>
            </a:solidFill>
            <a:prstDash val="solid"/>
          </a:ln>
        </p:spPr>
      </p:sp>
      <p:sp>
        <p:nvSpPr>
          <p:cNvPr id="11" name="icon-circle"/>
          <p:cNvSpPr/>
          <p:nvPr/>
        </p:nvSpPr>
        <p:spPr>
          <a:xfrm>
            <a:off x="4617720" y="2514600"/>
            <a:ext cx="566928" cy="566928"/>
          </a:xfrm>
          <a:prstGeom prst="ellipse">
            <a:avLst/>
          </a:prstGeom>
          <a:solidFill>
            <a:srgbClr val="0172B6"/>
          </a:solidFill>
          <a:ln/>
        </p:spPr>
      </p:sp>
      <p:pic>
        <p:nvPicPr>
          <p:cNvPr id="12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656332"/>
            <a:ext cx="283464" cy="2834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34924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31-60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349240" y="2761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on real data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645152" y="34747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Back-test the score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validation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and compliance review</a:t>
            </a:r>
            <a:endParaRPr lang="en-US" sz="1400" dirty="0"/>
          </a:p>
        </p:txBody>
      </p:sp>
      <p:sp>
        <p:nvSpPr>
          <p:cNvPr id="16" name="phase-card"/>
          <p:cNvSpPr/>
          <p:nvPr/>
        </p:nvSpPr>
        <p:spPr>
          <a:xfrm>
            <a:off x="8046720" y="2286000"/>
            <a:ext cx="3429000" cy="2743200"/>
          </a:xfrm>
          <a:prstGeom prst="roundRect">
            <a:avLst>
              <a:gd name="adj" fmla="val 4667"/>
            </a:avLst>
          </a:prstGeom>
          <a:solidFill>
            <a:srgbClr val="34495E"/>
          </a:solidFill>
          <a:ln w="12700">
            <a:solidFill>
              <a:srgbClr val="47617D"/>
            </a:solidFill>
            <a:prstDash val="solid"/>
          </a:ln>
        </p:spPr>
      </p:sp>
      <p:sp>
        <p:nvSpPr>
          <p:cNvPr id="17" name="icon-circle"/>
          <p:cNvSpPr/>
          <p:nvPr/>
        </p:nvSpPr>
        <p:spPr>
          <a:xfrm>
            <a:off x="8275320" y="2514600"/>
            <a:ext cx="566928" cy="566928"/>
          </a:xfrm>
          <a:prstGeom prst="ellipse">
            <a:avLst/>
          </a:prstGeom>
          <a:solidFill>
            <a:srgbClr val="0172B6"/>
          </a:solidFill>
          <a:ln/>
        </p:spPr>
      </p:sp>
      <p:pic>
        <p:nvPicPr>
          <p:cNvPr id="18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052" y="2656332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00684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9C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61-90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9006840" y="2761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in shadow mode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8302752" y="34747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analyst team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review and audit log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confirm rate and PSI</a:t>
            </a:r>
            <a:endParaRPr lang="en-US" sz="1400" dirty="0"/>
          </a:p>
        </p:txBody>
      </p:sp>
      <p:sp>
        <p:nvSpPr>
          <p:cNvPr id="22" name="decision"/>
          <p:cNvSpPr/>
          <p:nvPr/>
        </p:nvSpPr>
        <p:spPr>
          <a:xfrm>
            <a:off x="731520" y="5349240"/>
            <a:ext cx="10744200" cy="868680"/>
          </a:xfrm>
          <a:prstGeom prst="roundRect">
            <a:avLst>
              <a:gd name="adj" fmla="val 12632"/>
            </a:avLst>
          </a:prstGeom>
          <a:solidFill>
            <a:schemeClr val="accent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1005840" y="54406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requested today</a:t>
            </a:r>
            <a:endParaRPr lang="en-US" sz="1700" dirty="0"/>
          </a:p>
        </p:txBody>
      </p:sp>
      <p:sp>
        <p:nvSpPr>
          <p:cNvPr id="24" name="Text 19"/>
          <p:cNvSpPr txBox="1"/>
          <p:nvPr/>
        </p:nvSpPr>
        <p:spPr>
          <a:xfrm>
            <a:off x="4114800" y="54406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pilot, nominate a data owner and an independent validation partner.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edit Risk CRO">
  <a:themeElements>
    <a:clrScheme name="Credit Risk CRO">
      <a:dk1>
        <a:srgbClr val="1B2733"/>
      </a:dk1>
      <a:lt1>
        <a:srgbClr val="FFFFFF"/>
      </a:lt1>
      <a:dk2>
        <a:srgbClr val="2C3E50"/>
      </a:dk2>
      <a:lt2>
        <a:srgbClr val="F3F6F9"/>
      </a:lt2>
      <a:accent1>
        <a:srgbClr val="0172B6"/>
      </a:accent1>
      <a:accent2>
        <a:srgbClr val="2BA882"/>
      </a:accent2>
      <a:accent3>
        <a:srgbClr val="F59E0B"/>
      </a:accent3>
      <a:accent4>
        <a:srgbClr val="DC3545"/>
      </a:accent4>
      <a:accent5>
        <a:srgbClr val="7C3AED"/>
      </a:accent5>
      <a:accent6>
        <a:srgbClr val="64748B"/>
      </a:accent6>
      <a:hlink>
        <a:srgbClr val="0172B6"/>
      </a:hlink>
      <a:folHlink>
        <a:srgbClr val="7C3AED"/>
      </a:folHlink>
    </a:clrScheme>
    <a:fontScheme name="Credit Risk CR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Risk Portfolio Monitor - CRO briefing</dc:title>
  <dc:subject>PptxGenJS Presentation</dc:subject>
  <dc:creator>Credit Risk Portfolio Monitor</dc:creator>
  <cp:lastModifiedBy>Credit Risk Portfolio Monitor</cp:lastModifiedBy>
  <cp:revision>1</cp:revision>
  <dcterms:created xsi:type="dcterms:W3CDTF">2026-10-26T16:44:01Z</dcterms:created>
  <dcterms:modified xsi:type="dcterms:W3CDTF">2026-10-26T16:44:01Z</dcterms:modified>
</cp:coreProperties>
</file>